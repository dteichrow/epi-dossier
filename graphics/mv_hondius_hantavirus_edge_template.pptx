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972800"/>
  <p:notesSz cx="109728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43000"/>
          </a:xfrm>
          <a:prstGeom prst="rect">
            <a:avLst/>
          </a:prstGeom>
          <a:solidFill>
            <a:srgbClr val="155D66"/>
          </a:solidFill>
          <a:ln w="12700">
            <a:solidFill>
              <a:srgbClr val="155D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" y="201168"/>
            <a:ext cx="1298448" cy="713232"/>
          </a:xfrm>
          <a:prstGeom prst="rect">
            <a:avLst/>
          </a:prstGeom>
          <a:solidFill>
            <a:srgbClr val="F6F0E8"/>
          </a:solidFill>
          <a:ln w="12700">
            <a:solidFill>
              <a:srgbClr val="F6F0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" y="32004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219456"/>
            <a:ext cx="73152" cy="73152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" y="219456"/>
            <a:ext cx="73152" cy="73152"/>
          </a:xfrm>
          <a:prstGeom prst="rect">
            <a:avLst/>
          </a:prstGeom>
          <a:solidFill>
            <a:srgbClr val="D69A3A"/>
          </a:solidFill>
          <a:ln w="12700">
            <a:solidFill>
              <a:srgbClr val="D69A3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"/>
            <a:ext cx="73152" cy="73152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92024"/>
            <a:ext cx="4160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HANTAVIRUS OUTBREAK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828800" y="502920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DE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BRIEF #1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28800" y="804672"/>
            <a:ext cx="4160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D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May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74320"/>
            <a:ext cx="111556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" y="1417320"/>
            <a:ext cx="1298448" cy="1298448"/>
          </a:xfrm>
          <a:prstGeom prst="rect">
            <a:avLst/>
          </a:prstGeom>
          <a:solidFill>
            <a:srgbClr val="155D66"/>
          </a:solidFill>
          <a:ln w="12700">
            <a:solidFill>
              <a:srgbClr val="155D6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292608" y="2167128"/>
            <a:ext cx="11521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" y="2423160"/>
            <a:ext cx="11521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9456" y="2880360"/>
            <a:ext cx="1298448" cy="129844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" y="3063240"/>
            <a:ext cx="12984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292608" y="3630168"/>
            <a:ext cx="11521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2608" y="3886200"/>
            <a:ext cx="11521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9456" y="4343400"/>
            <a:ext cx="1298448" cy="1298448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" y="4526280"/>
            <a:ext cx="12984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292608" y="5093208"/>
            <a:ext cx="11521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92608" y="5349240"/>
            <a:ext cx="11521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9456" y="5806440"/>
            <a:ext cx="1298448" cy="1298448"/>
          </a:xfrm>
          <a:prstGeom prst="rect">
            <a:avLst/>
          </a:prstGeom>
          <a:solidFill>
            <a:srgbClr val="5A4E63"/>
          </a:solidFill>
          <a:ln w="12700">
            <a:solidFill>
              <a:srgbClr val="5A4E6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" y="5989320"/>
            <a:ext cx="129844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500" dirty="0"/>
          </a:p>
        </p:txBody>
      </p:sp>
      <p:sp>
        <p:nvSpPr>
          <p:cNvPr id="26" name="Text 24"/>
          <p:cNvSpPr/>
          <p:nvPr/>
        </p:nvSpPr>
        <p:spPr>
          <a:xfrm>
            <a:off x="292608" y="6556248"/>
            <a:ext cx="11521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ICU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92608" y="6812280"/>
            <a:ext cx="11521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AFRICA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83080" y="1417320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HIGHLIGHTS: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783080" y="1636776"/>
            <a:ext cx="795528" cy="0"/>
          </a:xfrm>
          <a:prstGeom prst="line">
            <a:avLst/>
          </a:prstGeom>
          <a:noFill/>
          <a:ln w="12700">
            <a:solidFill>
              <a:srgbClr val="1421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1700784"/>
            <a:ext cx="5532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reports one lab-confirmed hantavirus case and five suspected cases.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1783080" y="1938528"/>
            <a:ext cx="5532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 six affected people, three have died; one person is in intensive care in South Africa.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1783080" y="2176272"/>
            <a:ext cx="5532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 signal: MV Hondius travelled from Ushuaia, Argentina, to Cabo Verde.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1783080" y="2414016"/>
            <a:ext cx="5532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ECDC is monitoring with national public health authorities and WHO.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1783080" y="2651760"/>
            <a:ext cx="5532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Sequencing is ongoing; the specific hantavirus strain has not yet been publicly clarified.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1783080" y="3035808"/>
            <a:ext cx="5440680" cy="1481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55D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3172968"/>
            <a:ext cx="4617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Hantavirus-Associated Illness Status, MV Hondius 2026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31720" y="3456432"/>
            <a:ext cx="4480560" cy="0"/>
          </a:xfrm>
          <a:prstGeom prst="line">
            <a:avLst/>
          </a:prstGeom>
          <a:noFill/>
          <a:ln w="6350">
            <a:solidFill>
              <a:srgbClr val="D3D7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31720" y="3685032"/>
            <a:ext cx="4480560" cy="0"/>
          </a:xfrm>
          <a:prstGeom prst="line">
            <a:avLst/>
          </a:prstGeom>
          <a:noFill/>
          <a:ln w="6350">
            <a:solidFill>
              <a:srgbClr val="D3D7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31720" y="3913632"/>
            <a:ext cx="4480560" cy="0"/>
          </a:xfrm>
          <a:prstGeom prst="line">
            <a:avLst/>
          </a:prstGeom>
          <a:noFill/>
          <a:ln w="6350">
            <a:solidFill>
              <a:srgbClr val="D3D7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4142232"/>
            <a:ext cx="4480560" cy="0"/>
          </a:xfrm>
          <a:prstGeom prst="line">
            <a:avLst/>
          </a:prstGeom>
          <a:noFill/>
          <a:ln w="6350">
            <a:solidFill>
              <a:srgbClr val="D3D7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4169664"/>
            <a:ext cx="4480560" cy="0"/>
          </a:xfrm>
          <a:prstGeom prst="line">
            <a:avLst/>
          </a:prstGeom>
          <a:noFill/>
          <a:ln w="10160">
            <a:solidFill>
              <a:srgbClr val="4654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4027018"/>
            <a:ext cx="493776" cy="142646"/>
          </a:xfrm>
          <a:prstGeom prst="rect">
            <a:avLst/>
          </a:prstGeom>
          <a:solidFill>
            <a:srgbClr val="155D66"/>
          </a:solidFill>
          <a:ln w="12700">
            <a:solidFill>
              <a:srgbClr val="155D6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242816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703320" y="3456432"/>
            <a:ext cx="493776" cy="713232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1880" y="4242816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9160" y="3741725"/>
            <a:ext cx="493776" cy="427939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4242816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15000" y="4027018"/>
            <a:ext cx="493776" cy="142646"/>
          </a:xfrm>
          <a:prstGeom prst="rect">
            <a:avLst/>
          </a:prstGeom>
          <a:solidFill>
            <a:srgbClr val="5A4E63"/>
          </a:solidFill>
          <a:ln w="12700">
            <a:solidFill>
              <a:srgbClr val="5A4E6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4242816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084832" y="3410712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084832" y="3767328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084832" y="4133088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783080" y="4709160"/>
            <a:ext cx="5440680" cy="1481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55D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4855464"/>
            <a:ext cx="38404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Questions to Resolve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31720" y="5843016"/>
            <a:ext cx="4480560" cy="0"/>
          </a:xfrm>
          <a:prstGeom prst="line">
            <a:avLst/>
          </a:prstGeom>
          <a:noFill/>
          <a:ln w="10160">
            <a:solidFill>
              <a:srgbClr val="46545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31720" y="5193792"/>
            <a:ext cx="4480560" cy="0"/>
          </a:xfrm>
          <a:prstGeom prst="line">
            <a:avLst/>
          </a:prstGeom>
          <a:noFill/>
          <a:ln w="6350">
            <a:solidFill>
              <a:srgbClr val="D3D7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31720" y="5413248"/>
            <a:ext cx="4480560" cy="0"/>
          </a:xfrm>
          <a:prstGeom prst="line">
            <a:avLst/>
          </a:prstGeom>
          <a:noFill/>
          <a:ln w="6350">
            <a:solidFill>
              <a:srgbClr val="D3D7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5632704"/>
            <a:ext cx="4480560" cy="0"/>
          </a:xfrm>
          <a:prstGeom prst="line">
            <a:avLst/>
          </a:prstGeom>
          <a:noFill/>
          <a:ln w="6350">
            <a:solidFill>
              <a:srgbClr val="D3D7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5358018"/>
            <a:ext cx="438912" cy="484998"/>
          </a:xfrm>
          <a:prstGeom prst="rect">
            <a:avLst/>
          </a:prstGeom>
          <a:solidFill>
            <a:srgbClr val="D8E5E3"/>
          </a:solidFill>
          <a:ln w="12700">
            <a:solidFill>
              <a:srgbClr val="D8E5E3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41448" y="5916168"/>
            <a:ext cx="585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</a:t>
            </a:r>
            <a:endParaRPr lang="en-US" sz="710" dirty="0"/>
          </a:p>
        </p:txBody>
      </p:sp>
      <p:sp>
        <p:nvSpPr>
          <p:cNvPr id="61" name="Shape 59"/>
          <p:cNvSpPr/>
          <p:nvPr/>
        </p:nvSpPr>
        <p:spPr>
          <a:xfrm>
            <a:off x="3191256" y="5229636"/>
            <a:ext cx="438912" cy="613380"/>
          </a:xfrm>
          <a:prstGeom prst="rect">
            <a:avLst/>
          </a:prstGeom>
          <a:solidFill>
            <a:srgbClr val="D69A3A"/>
          </a:solidFill>
          <a:ln w="12700">
            <a:solidFill>
              <a:srgbClr val="D69A3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18104" y="5916168"/>
            <a:ext cx="585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710" dirty="0"/>
          </a:p>
        </p:txBody>
      </p:sp>
      <p:sp>
        <p:nvSpPr>
          <p:cNvPr id="63" name="Shape 61"/>
          <p:cNvSpPr/>
          <p:nvPr/>
        </p:nvSpPr>
        <p:spPr>
          <a:xfrm>
            <a:off x="3867912" y="5486400"/>
            <a:ext cx="438912" cy="356616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94760" y="5916168"/>
            <a:ext cx="585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4544568" y="5293827"/>
            <a:ext cx="438912" cy="549189"/>
          </a:xfrm>
          <a:prstGeom prst="rect">
            <a:avLst/>
          </a:prstGeom>
          <a:solidFill>
            <a:srgbClr val="D8E5E3"/>
          </a:solidFill>
          <a:ln w="12700">
            <a:solidFill>
              <a:srgbClr val="D8E5E3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71416" y="5916168"/>
            <a:ext cx="585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5221224" y="5571988"/>
            <a:ext cx="438912" cy="271028"/>
          </a:xfrm>
          <a:prstGeom prst="rect">
            <a:avLst/>
          </a:prstGeom>
          <a:solidFill>
            <a:srgbClr val="D69A3A"/>
          </a:solidFill>
          <a:ln w="12700">
            <a:solidFill>
              <a:srgbClr val="D69A3A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48072" y="5916168"/>
            <a:ext cx="585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</a:t>
            </a:r>
            <a:endParaRPr lang="en-US" sz="710" dirty="0"/>
          </a:p>
        </p:txBody>
      </p:sp>
      <p:sp>
        <p:nvSpPr>
          <p:cNvPr id="69" name="Shape 67"/>
          <p:cNvSpPr/>
          <p:nvPr/>
        </p:nvSpPr>
        <p:spPr>
          <a:xfrm>
            <a:off x="5897880" y="5429341"/>
            <a:ext cx="438912" cy="413675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24728" y="5916168"/>
            <a:ext cx="585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rodents</a:t>
            </a:r>
            <a:endParaRPr lang="en-US" sz="710" dirty="0"/>
          </a:p>
        </p:txBody>
      </p:sp>
      <p:sp>
        <p:nvSpPr>
          <p:cNvPr id="71" name="Shape 69"/>
          <p:cNvSpPr/>
          <p:nvPr/>
        </p:nvSpPr>
        <p:spPr>
          <a:xfrm>
            <a:off x="2331720" y="5001768"/>
            <a:ext cx="109728" cy="109728"/>
          </a:xfrm>
          <a:prstGeom prst="rect">
            <a:avLst/>
          </a:prstGeom>
          <a:solidFill>
            <a:srgbClr val="D8E5E3"/>
          </a:solidFill>
          <a:ln w="12700">
            <a:solidFill>
              <a:srgbClr val="D8E5E3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87168" y="4992624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3246120" y="5001768"/>
            <a:ext cx="109728" cy="109728"/>
          </a:xfrm>
          <a:prstGeom prst="rect">
            <a:avLst/>
          </a:prstGeom>
          <a:solidFill>
            <a:srgbClr val="D69A3A"/>
          </a:solidFill>
          <a:ln w="12700">
            <a:solidFill>
              <a:srgbClr val="D69A3A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01568" y="4992624"/>
            <a:ext cx="7132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4352544" y="5001768"/>
            <a:ext cx="109728" cy="109728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07992" y="4992624"/>
            <a:ext cx="7863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</a:t>
            </a:r>
            <a:endParaRPr lang="en-US" sz="720" dirty="0"/>
          </a:p>
        </p:txBody>
      </p:sp>
      <p:sp>
        <p:nvSpPr>
          <p:cNvPr id="77" name="Text 75"/>
          <p:cNvSpPr/>
          <p:nvPr/>
        </p:nvSpPr>
        <p:spPr>
          <a:xfrm>
            <a:off x="178308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ACTIVITIES:</a:t>
            </a:r>
            <a:endParaRPr lang="en-US" sz="1240" dirty="0"/>
          </a:p>
        </p:txBody>
      </p:sp>
      <p:sp>
        <p:nvSpPr>
          <p:cNvPr id="78" name="Shape 76"/>
          <p:cNvSpPr/>
          <p:nvPr/>
        </p:nvSpPr>
        <p:spPr>
          <a:xfrm>
            <a:off x="1783080" y="6684264"/>
            <a:ext cx="1591056" cy="0"/>
          </a:xfrm>
          <a:prstGeom prst="line">
            <a:avLst/>
          </a:prstGeom>
          <a:noFill/>
          <a:ln w="12700">
            <a:solidFill>
              <a:srgbClr val="1421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83080" y="6748272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Medical care, evacuation planning, and support for affected passengers and crew are ongoing.</a:t>
            </a:r>
            <a:endParaRPr lang="en-US" sz="980" dirty="0"/>
          </a:p>
        </p:txBody>
      </p:sp>
      <p:sp>
        <p:nvSpPr>
          <p:cNvPr id="80" name="Text 78"/>
          <p:cNvSpPr/>
          <p:nvPr/>
        </p:nvSpPr>
        <p:spPr>
          <a:xfrm>
            <a:off x="1783080" y="6958584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health authorities are assessing shipboard risk, exposure history, and possible source.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1783080" y="7168896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Laboratory testing and sequencing are expected to clarify the virus and containment needs.</a:t>
            </a:r>
            <a:endParaRPr lang="en-US" sz="980" dirty="0"/>
          </a:p>
        </p:txBody>
      </p:sp>
      <p:sp>
        <p:nvSpPr>
          <p:cNvPr id="82" name="Text 80"/>
          <p:cNvSpPr/>
          <p:nvPr/>
        </p:nvSpPr>
        <p:spPr>
          <a:xfrm>
            <a:off x="1783080" y="7379208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 tracing should focus on symptom timing, close contacts, and shared exposure spaces.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1783080" y="7744968"/>
            <a:ext cx="2331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RECOMMENDATIONS:</a:t>
            </a:r>
            <a:endParaRPr lang="en-US" sz="1240" dirty="0"/>
          </a:p>
        </p:txBody>
      </p:sp>
      <p:sp>
        <p:nvSpPr>
          <p:cNvPr id="84" name="Shape 82"/>
          <p:cNvSpPr/>
          <p:nvPr/>
        </p:nvSpPr>
        <p:spPr>
          <a:xfrm>
            <a:off x="1783080" y="7955280"/>
            <a:ext cx="1984248" cy="0"/>
          </a:xfrm>
          <a:prstGeom prst="line">
            <a:avLst/>
          </a:prstGeom>
          <a:noFill/>
          <a:ln w="12700">
            <a:solidFill>
              <a:srgbClr val="14212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783080" y="8019288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Wider public risk has been described by WHO Europe as low; no panic or broad travel restrictions.</a:t>
            </a:r>
            <a:endParaRPr lang="en-US" sz="980" dirty="0"/>
          </a:p>
        </p:txBody>
      </p:sp>
      <p:sp>
        <p:nvSpPr>
          <p:cNvPr id="86" name="Text 84"/>
          <p:cNvSpPr/>
          <p:nvPr/>
        </p:nvSpPr>
        <p:spPr>
          <a:xfrm>
            <a:off x="1783080" y="8229600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Avoid exposure to rodent urine, feces, saliva, and dust in enclosed or poorly ventilated spaces.</a:t>
            </a:r>
            <a:endParaRPr lang="en-US" sz="980" dirty="0"/>
          </a:p>
        </p:txBody>
      </p:sp>
      <p:sp>
        <p:nvSpPr>
          <p:cNvPr id="87" name="Text 85"/>
          <p:cNvSpPr/>
          <p:nvPr/>
        </p:nvSpPr>
        <p:spPr>
          <a:xfrm>
            <a:off x="1783080" y="8439912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Seek urgent medical care for fever plus worsening respiratory symptoms after possible exposure.</a:t>
            </a: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1783080" y="8650224"/>
            <a:ext cx="5440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Watch for sequencing updates: Andes virus would raise different transmission concerns.</a:t>
            </a:r>
            <a:endParaRPr lang="en-US" sz="980" dirty="0"/>
          </a:p>
        </p:txBody>
      </p:sp>
      <p:pic>
        <p:nvPicPr>
          <p:cNvPr id="89" name="Image 0" descr="/Users/devinteichrow/Downloads/Work and Statistics/Blogs/epi-dossier/graphics/sin_nombre_hantavirus_cdc_phil_11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9034272"/>
            <a:ext cx="3337560" cy="1051560"/>
          </a:xfrm>
          <a:prstGeom prst="rect">
            <a:avLst/>
          </a:prstGeom>
        </p:spPr>
      </p:pic>
      <p:sp>
        <p:nvSpPr>
          <p:cNvPr id="90" name="Shape 87"/>
          <p:cNvSpPr/>
          <p:nvPr/>
        </p:nvSpPr>
        <p:spPr>
          <a:xfrm>
            <a:off x="219456" y="9866376"/>
            <a:ext cx="3337560" cy="219456"/>
          </a:xfrm>
          <a:prstGeom prst="rect">
            <a:avLst/>
          </a:prstGeom>
          <a:solidFill>
            <a:srgbClr val="142126">
              <a:alpha val="70000"/>
            </a:srgbClr>
          </a:solidFill>
          <a:ln w="12700">
            <a:solidFill>
              <a:srgbClr val="142126">
                <a:alpha val="0"/>
              </a:srgbClr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92608" y="9912096"/>
            <a:ext cx="29260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PHIL #1136: Sin Nombre hantavirus TEM</a:t>
            </a:r>
            <a:endParaRPr lang="en-US" sz="750" dirty="0"/>
          </a:p>
        </p:txBody>
      </p:sp>
      <p:sp>
        <p:nvSpPr>
          <p:cNvPr id="92" name="Shape 89"/>
          <p:cNvSpPr/>
          <p:nvPr/>
        </p:nvSpPr>
        <p:spPr>
          <a:xfrm>
            <a:off x="3785616" y="9034272"/>
            <a:ext cx="1645920" cy="1051560"/>
          </a:xfrm>
          <a:prstGeom prst="rect">
            <a:avLst/>
          </a:prstGeom>
          <a:solidFill>
            <a:srgbClr val="EFE9DF"/>
          </a:solidFill>
          <a:ln w="12700">
            <a:solidFill>
              <a:srgbClr val="EFE9D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160520" y="9491472"/>
            <a:ext cx="914400" cy="310896"/>
          </a:xfrm>
          <a:prstGeom prst="ellipse">
            <a:avLst/>
          </a:prstGeom>
          <a:solidFill>
            <a:srgbClr val="142126"/>
          </a:solidFill>
          <a:ln w="12700">
            <a:solidFill>
              <a:srgbClr val="142126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3895344" y="9381744"/>
            <a:ext cx="329184" cy="329184"/>
          </a:xfrm>
          <a:prstGeom prst="ellipse">
            <a:avLst/>
          </a:prstGeom>
          <a:solidFill>
            <a:srgbClr val="142126"/>
          </a:solidFill>
          <a:ln w="12700">
            <a:solidFill>
              <a:srgbClr val="142126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882896" y="9473184"/>
            <a:ext cx="493776" cy="310896"/>
          </a:xfrm>
          <a:prstGeom prst="arc">
            <a:avLst/>
          </a:prstGeom>
          <a:noFill/>
          <a:ln w="38100">
            <a:solidFill>
              <a:srgbClr val="142126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 rot="18900000">
            <a:off x="3822192" y="9345168"/>
            <a:ext cx="256032" cy="256032"/>
          </a:xfrm>
          <a:prstGeom prst="triangle">
            <a:avLst/>
          </a:prstGeom>
          <a:solidFill>
            <a:srgbClr val="142126"/>
          </a:solidFill>
          <a:ln w="12700">
            <a:solidFill>
              <a:srgbClr val="142126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 rot="2700000">
            <a:off x="4041648" y="9326880"/>
            <a:ext cx="256032" cy="256032"/>
          </a:xfrm>
          <a:prstGeom prst="triangle">
            <a:avLst/>
          </a:prstGeom>
          <a:solidFill>
            <a:srgbClr val="142126"/>
          </a:solidFill>
          <a:ln w="12700">
            <a:solidFill>
              <a:srgbClr val="142126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050792" y="9500616"/>
            <a:ext cx="45720" cy="45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931920" y="9802368"/>
            <a:ext cx="54864" cy="54864"/>
          </a:xfrm>
          <a:prstGeom prst="ellipse">
            <a:avLst/>
          </a:prstGeom>
          <a:solidFill>
            <a:srgbClr val="B84A3E"/>
          </a:solidFill>
          <a:ln w="12700">
            <a:solidFill>
              <a:srgbClr val="B84A3E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14800" y="9857232"/>
            <a:ext cx="54864" cy="54864"/>
          </a:xfrm>
          <a:prstGeom prst="ellipse">
            <a:avLst/>
          </a:prstGeom>
          <a:solidFill>
            <a:srgbClr val="B84A3E"/>
          </a:solidFill>
          <a:ln w="12700">
            <a:solidFill>
              <a:srgbClr val="B84A3E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315968" y="9802368"/>
            <a:ext cx="54864" cy="54864"/>
          </a:xfrm>
          <a:prstGeom prst="ellipse">
            <a:avLst/>
          </a:prstGeom>
          <a:solidFill>
            <a:srgbClr val="B84A3E"/>
          </a:solidFill>
          <a:ln w="12700">
            <a:solidFill>
              <a:srgbClr val="B84A3E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913632" y="9902952"/>
            <a:ext cx="13167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55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Rodent-contaminated spaces</a:t>
            </a:r>
            <a:endParaRPr lang="en-US" sz="740" dirty="0"/>
          </a:p>
        </p:txBody>
      </p:sp>
      <p:sp>
        <p:nvSpPr>
          <p:cNvPr id="103" name="Shape 100"/>
          <p:cNvSpPr/>
          <p:nvPr/>
        </p:nvSpPr>
        <p:spPr>
          <a:xfrm>
            <a:off x="5650992" y="9034272"/>
            <a:ext cx="177393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12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5742432" y="9116568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HANTAVIRUS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</a:t>
            </a:r>
            <a:endParaRPr lang="en-US" sz="860" dirty="0"/>
          </a:p>
        </p:txBody>
      </p:sp>
      <p:sp>
        <p:nvSpPr>
          <p:cNvPr id="105" name="Shape 102"/>
          <p:cNvSpPr/>
          <p:nvPr/>
        </p:nvSpPr>
        <p:spPr>
          <a:xfrm>
            <a:off x="5742432" y="9381744"/>
            <a:ext cx="1225296" cy="0"/>
          </a:xfrm>
          <a:prstGeom prst="line">
            <a:avLst/>
          </a:prstGeom>
          <a:noFill/>
          <a:ln w="7620">
            <a:solidFill>
              <a:srgbClr val="142126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5742432" y="9427464"/>
            <a:ext cx="1508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Fever/chills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Muscle aches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 symptoms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Cough or dyspnea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Rapid worsening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742432" y="9893808"/>
            <a:ext cx="53035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B8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SEVERE:</a:t>
            </a:r>
            <a:endParaRPr lang="en-US" sz="740" dirty="0"/>
          </a:p>
        </p:txBody>
      </p:sp>
      <p:sp>
        <p:nvSpPr>
          <p:cNvPr id="108" name="Text 105"/>
          <p:cNvSpPr/>
          <p:nvPr/>
        </p:nvSpPr>
        <p:spPr>
          <a:xfrm>
            <a:off x="6236208" y="9893808"/>
            <a:ext cx="877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oxygen, shock</a:t>
            </a:r>
            <a:endParaRPr lang="en-US" sz="700" dirty="0"/>
          </a:p>
        </p:txBody>
      </p:sp>
      <p:sp>
        <p:nvSpPr>
          <p:cNvPr id="109" name="Shape 106"/>
          <p:cNvSpPr/>
          <p:nvPr/>
        </p:nvSpPr>
        <p:spPr>
          <a:xfrm>
            <a:off x="0" y="10287000"/>
            <a:ext cx="7772400" cy="685800"/>
          </a:xfrm>
          <a:prstGeom prst="rect">
            <a:avLst/>
          </a:prstGeom>
          <a:solidFill>
            <a:srgbClr val="D8E5E3"/>
          </a:solidFill>
          <a:ln w="12700">
            <a:solidFill>
              <a:srgbClr val="D8E5E3">
                <a:alpha val="0"/>
              </a:srgbClr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0040" y="10396728"/>
            <a:ext cx="7132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suspected exposure with respiratory symptoms, seek medical care urgently.</a:t>
            </a:r>
            <a:endParaRPr lang="en-US" sz="1340" dirty="0"/>
          </a:p>
        </p:txBody>
      </p:sp>
      <p:sp>
        <p:nvSpPr>
          <p:cNvPr id="111" name="Text 108"/>
          <p:cNvSpPr/>
          <p:nvPr/>
        </p:nvSpPr>
        <p:spPr>
          <a:xfrm>
            <a:off x="502920" y="10634472"/>
            <a:ext cx="6766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4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WHO reporting via UN Geneva; ECDC news release; CDC hantavirus guidance and PHIL image library.</a:t>
            </a:r>
            <a:endParaRPr lang="en-US" sz="790" dirty="0"/>
          </a:p>
        </p:txBody>
      </p:sp>
      <p:sp>
        <p:nvSpPr>
          <p:cNvPr id="112" name="Text 109"/>
          <p:cNvSpPr/>
          <p:nvPr/>
        </p:nvSpPr>
        <p:spPr>
          <a:xfrm>
            <a:off x="640080" y="10780776"/>
            <a:ext cx="64922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46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reflect public reporting available on 4 May 2026 and may change as the investigation develops.</a:t>
            </a:r>
            <a:endParaRPr lang="en-US" sz="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The Edge of Epidemiology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 Hondius Hantavirus Situation Brief</dc:title>
  <dc:subject>Editable infectious disease situation brief</dc:subject>
  <dc:creator>The Edge of Epidemiology</dc:creator>
  <cp:lastModifiedBy>The Edge of Epidemiology</cp:lastModifiedBy>
  <cp:revision>1</cp:revision>
  <dcterms:created xsi:type="dcterms:W3CDTF">2026-05-04T14:56:45Z</dcterms:created>
  <dcterms:modified xsi:type="dcterms:W3CDTF">2026-05-04T14:56:45Z</dcterms:modified>
</cp:coreProperties>
</file>